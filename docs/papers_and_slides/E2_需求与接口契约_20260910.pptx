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/>
      <p:pic>
        <p:nvPicPr>
          <p:cNvPr id="2" name="图片 3"/>
          <p:cNvPicPr>
            <a:picLocks noChangeAspect="1"/>
          </p:cNvPicPr>
          <p:nvPr/>
        </p:nvPicPr>
        <p:blipFill rotWithShape="1">
          <a:blip r:embed="rId2"/>
          <a:srcRect r="39086"/>
          <a:stretch>
            <a:fillRect/>
          </a:stretch>
        </p:blipFill>
        <p:spPr>
          <a:xfrm>
            <a:off x="-268605" y="-464820"/>
            <a:ext cx="2005965" cy="217551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marL="0" marR="0" algn="ctr" defTabSz="914400">
              <a:lnSpc>
                <a:spcPct val="100000"/>
              </a:lnSpc>
              <a:buNone/>
              <a:defRPr sz="6000" b="1" i="0" u="none" kern="1200" cap="none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2615" y="-1282700"/>
            <a:ext cx="4442460" cy="4099560"/>
          </a:xfrm>
          <a:prstGeom prst="rect">
            <a:avLst/>
          </a:prstGeom>
        </p:spPr>
      </p:pic>
      <p:pic>
        <p:nvPicPr>
          <p:cNvPr id="30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1230" y="3771900"/>
            <a:ext cx="3503930" cy="3232785"/>
          </a:xfrm>
          <a:prstGeom prst="rect">
            <a:avLst/>
          </a:prstGeom>
        </p:spPr>
      </p:pic>
      <p:pic>
        <p:nvPicPr>
          <p:cNvPr id="31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70" y="5332730"/>
            <a:ext cx="4865370" cy="1885950"/>
          </a:xfrm>
          <a:prstGeom prst="rect">
            <a:avLst/>
          </a:prstGeom>
        </p:spPr>
      </p:pic>
      <p:pic>
        <p:nvPicPr>
          <p:cNvPr id="32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907530" y="5332730"/>
            <a:ext cx="4865370" cy="1885950"/>
          </a:xfrm>
          <a:prstGeom prst="rect">
            <a:avLst/>
          </a:prstGeom>
        </p:spPr>
      </p:pic>
      <p:pic>
        <p:nvPicPr>
          <p:cNvPr id="33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8560"/>
            <a:ext cx="12233910" cy="1869440"/>
          </a:xfrm>
          <a:prstGeom prst="rect">
            <a:avLst/>
          </a:prstGeom>
        </p:spPr>
      </p:pic>
      <p:pic>
        <p:nvPicPr>
          <p:cNvPr id="34" name="图片 3"/>
          <p:cNvPicPr>
            <a:picLocks noChangeAspect="1"/>
          </p:cNvPicPr>
          <p:nvPr/>
        </p:nvPicPr>
        <p:blipFill rotWithShape="1">
          <a:blip r:embed="rId5"/>
          <a:srcRect l="16598" r="41371" b="32186"/>
          <a:stretch>
            <a:fillRect/>
          </a:stretch>
        </p:blipFill>
        <p:spPr>
          <a:xfrm>
            <a:off x="5102455" y="-988999"/>
            <a:ext cx="2341396" cy="2408268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1333500" y="2943225"/>
            <a:ext cx="9525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E2 需求与接口契约</a:t>
            </a:r>
            <a:endParaRPr sz="38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524250" y="4038600"/>
            <a:ext cx="5143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DevOps 教学实验</a:t>
            </a:r>
            <a:endParaRPr sz="2025" b="0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教师</a:t>
            </a:r>
            <a:r>
              <a:rPr lang="en-US" altLang="zh-CN"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dirty="0">
                <a:solidFill>
                  <a:srgbClr val="B88F4D"/>
                </a:solidFill>
                <a:latin typeface="微软雅黑" charset="-122"/>
                <a:ea typeface="微软雅黑" charset="-122"/>
                <a:sym typeface="+mn-ea"/>
              </a:rPr>
              <a:t>吕骏</a:t>
            </a:r>
            <a:endParaRPr sz="2025" b="0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助教：曾星伟</a:t>
            </a:r>
            <a:endParaRPr sz="2025" b="0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上课安排与本次任务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鼓楼 09-16：100分钟　苏州 09-20：E2+E3共150分钟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这次要完成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找到同号配对组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约定微服务之间怎样传数据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留下设计文件和个人贡献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课堂内容</a:t>
            </a:r>
            <a:endParaRPr lang="zh-CN"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主讲到“本次检查与下次任务”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后面的接口细节放在备查页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留出时间让配对组商量和练习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四篇论文与小组分工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A做两项检测，B做环境生成和修复；同号小组配对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3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1381125"/>
                <a:gridCol w="2428875"/>
                <a:gridCol w="3829050"/>
                <a:gridCol w="3333750"/>
              </a:tblGrid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小组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交付给谁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BuildChecker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全量依赖检测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EChecker / MDFixer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EChecker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跨提交增量检测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MDFixer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DRAFT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生成可构建环境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三个下游服务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MDFixer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修复缺失依赖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重新构建与检测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四服务协作过程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这是最终联调路线；现在先约定每一步交接什么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4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3352800"/>
            <a:ext cx="2000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52475" y="35242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DRAFT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52475" y="4048125"/>
            <a:ext cx="1733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组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环境、镜像、日志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857500" y="3352800"/>
            <a:ext cx="2000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990850" y="35242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BuildChecker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990850" y="4048125"/>
            <a:ext cx="1733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 组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全量图、MD/RD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095875" y="3352800"/>
            <a:ext cx="2000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229225" y="35242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EChecker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29225" y="4048125"/>
            <a:ext cx="1733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 组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增量图、错误变化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334250" y="3352800"/>
            <a:ext cx="2000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467600" y="35242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MDFixer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67600" y="4048125"/>
            <a:ext cx="1733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组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Patch、修复报告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572625" y="3352800"/>
            <a:ext cx="2000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705975" y="35242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重新验证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705975" y="4048125"/>
            <a:ext cx="1733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构建、测试、重检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决定是否接受补丁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3" name="直接箭头连接符 42"/>
          <p:cNvCxnSpPr>
            <a:stCxn id="5" idx="3"/>
            <a:endCxn id="8" idx="1"/>
          </p:cNvCxnSpPr>
          <p:nvPr/>
        </p:nvCxnSpPr>
        <p:spPr>
          <a:xfrm>
            <a:off x="2619375" y="4286250"/>
            <a:ext cx="238125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44" name="直接箭头连接符 43"/>
          <p:cNvCxnSpPr>
            <a:stCxn id="8" idx="3"/>
            <a:endCxn id="11" idx="1"/>
          </p:cNvCxnSpPr>
          <p:nvPr/>
        </p:nvCxnSpPr>
        <p:spPr>
          <a:xfrm>
            <a:off x="4857750" y="4286250"/>
            <a:ext cx="238125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45" name="直接箭头连接符 44"/>
          <p:cNvCxnSpPr>
            <a:stCxn id="11" idx="3"/>
            <a:endCxn id="14" idx="1"/>
          </p:cNvCxnSpPr>
          <p:nvPr/>
        </p:nvCxnSpPr>
        <p:spPr>
          <a:xfrm>
            <a:off x="7096125" y="4286250"/>
            <a:ext cx="238125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46" name="直接箭头连接符 45"/>
          <p:cNvCxnSpPr>
            <a:stCxn id="14" idx="3"/>
            <a:endCxn id="17" idx="1"/>
          </p:cNvCxnSpPr>
          <p:nvPr/>
        </p:nvCxnSpPr>
        <p:spPr>
          <a:xfrm>
            <a:off x="9334500" y="4286250"/>
            <a:ext cx="238125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组间接口要约定什么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把“我交给你什么、你怎样读取”说清楚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5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095500"/>
                <a:gridCol w="4238625"/>
                <a:gridCol w="4638675"/>
              </a:tblGrid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交接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发送方提供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接收方检查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环境交接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仓库版本、镜像或构建方案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环境能用，构建命令明确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增量检测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旧提交的依赖图、配置与新提交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基线版本和配置匹配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修复交接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目标、缺失文件、位置与证据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报告属于当前源码版本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验证交接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Patch、日志、构建测试结果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修改生效，无效候选被拒绝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任务模型：一张可查询的任务单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公共信息统一，具体输入随服务变化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6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公共信息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job_id：本次任务编号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job_type：要做哪一种工作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status：排队、执行或结束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input / output / error：输入、结果、异常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为什么需要它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耗时任务先受理，再后台执行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另一组能查询进度并取结果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trace_id串联同一次平台流程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不必把大日志塞进每个响应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创建任务与查询状态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HTTP 接受任务后立即返回编号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7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POST /v1/full-check-jobs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Content-Type: application/json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{ "job_type": "FULL_CHECK", ... }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HTTP 202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{ "job_id": "job-full01", "status": "QUEUED" }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GET /v1/jobs/job-full01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创建请求携带输入与幂等键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job_id 由服务端产生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查询返回状态和产物引用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E2 先定义，不要求部署 API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任务状态与结果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检测到 MD 可以是一次成功完成的分析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8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3686175"/>
            <a:ext cx="2286000" cy="147637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52475" y="3857625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QUEUED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52475" y="4381500"/>
            <a:ext cx="20193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任务已接受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781425" y="3686175"/>
            <a:ext cx="2286000" cy="147637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914775" y="3857625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RUNNING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914775" y="4381500"/>
            <a:ext cx="20193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后台执行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0" y="2705100"/>
            <a:ext cx="3143250" cy="136207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324850" y="2876550"/>
            <a:ext cx="2876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SUCCEEDED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24850" y="3400425"/>
            <a:ext cx="28765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结果可用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可能报告 MD/RD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191500" y="4591050"/>
            <a:ext cx="3143250" cy="136207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4762500"/>
            <a:ext cx="2876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其他终态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24850" y="5286375"/>
            <a:ext cx="28765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FAILED / TIMED_OUT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CANCELLED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6" name="直接箭头连接符 35"/>
          <p:cNvCxnSpPr>
            <a:stCxn id="5" idx="3"/>
            <a:endCxn id="8" idx="1"/>
          </p:cNvCxnSpPr>
          <p:nvPr/>
        </p:nvCxnSpPr>
        <p:spPr>
          <a:xfrm>
            <a:off x="2905125" y="4424363"/>
            <a:ext cx="876300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7" name="直接箭头连接符 36"/>
          <p:cNvCxnSpPr>
            <a:stCxn id="8" idx="3"/>
            <a:endCxn id="11" idx="1"/>
          </p:cNvCxnSpPr>
          <p:nvPr/>
        </p:nvCxnSpPr>
        <p:spPr>
          <a:xfrm flipV="1">
            <a:off x="6067425" y="3386138"/>
            <a:ext cx="2124075" cy="1038225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8" name="直接箭头连接符 37"/>
          <p:cNvCxnSpPr>
            <a:stCxn id="8" idx="3"/>
            <a:endCxn id="14" idx="1"/>
          </p:cNvCxnSpPr>
          <p:nvPr/>
        </p:nvCxnSpPr>
        <p:spPr>
          <a:xfrm>
            <a:off x="6067425" y="4424363"/>
            <a:ext cx="2124075" cy="847725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系统错误与检测发现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“发现缺失依赖”与“工具没跑完”要分开表示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9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系统执行错误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ENV_3002：镜像构建失败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EXEC_4002：任务超时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ANALYSIS_5001：分析器失败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写入 job.error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正常分析发现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MISSING：实际需要，声明缺失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REDUNDANT：声明了但本配置未用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检测正常完成可为 SUCCEEDED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写入 ERROR_REPORT 的 findings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交换报告的一个例子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文件内容和文件地址都要让另一组看得懂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10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{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"type": "MISSING",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"target": "main.o",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"dependency": "config.h",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"commit": "本次完整提交SHA",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"detector": "INSTRUCTOR_ORACLE"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}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这条记录表示一个缺失声明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完整报告还要有位置和证据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人工样本标明人工来源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文件URI必须约定读取方式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参考模板与小组自己的决定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各配对组先商量清楚接口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11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可以参考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四类任务的Schema和JSON样例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创建任务、查询状态的API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错误码和产物记录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ADR与AI_USAGE模板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需要自己决定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哪些字段是必填，名称是什么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产物怎样存储和下载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失败怎样处理，版本怎样变更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用自己的例子证明双方理解一致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Backlog：把需求写成可验收任务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每项任务有负责人、产物和检查方法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12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095500"/>
                <a:gridCol w="2095500"/>
                <a:gridCol w="3448050"/>
                <a:gridCol w="3333750"/>
              </a:tblGrid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责任方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产物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验收条件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统一任务模型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A/B 共同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task.schema.json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四类对象可表达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历史图输入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增量请求样例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 baseline 被拒绝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修复报告输入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REPAIR 请求样例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只消费 MD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产物访问约定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A/B 共同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ADR + 契约样例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说明下游读取方式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ADR：架构决策记录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说明问题、选择、理由与代价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13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Context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耗时操作可能超过 HTTP 生命周期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有哪些课程约束？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53225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Decision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53225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选择异步 Job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POST 202，GET 查询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7197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Alternatives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同步等待实现简单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但客户端和执行耦合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24625" y="437197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53225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Consequences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53225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需要任务存储与查询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用契约样例验证行为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AI_USAGE.md：设计过程证据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写清AI提出什么、自己怎样判断、如何验证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14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记录什么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工具/模型与任务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提示摘要与 AI 建议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人工采纳、修改和拒绝理由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关联文件、版本与验证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如何写具体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AI 提议 PENDING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我们按课程规范改为 QUEUED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更新四组契约样例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运行校验并记录结果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提交材料与个人贡献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截图可以辅助，源码、设计记录和Git过程必须可追溯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15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接口文件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小组与配对组编号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请求、响应、错误与产物样例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53225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设计文件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53225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Backlog与ADR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AI_USAGE及后续变更说明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7197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实际工作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仓库地址、提交SHA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作者、提交说明、Issue或PR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24625" y="437197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53225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完成情况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53225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已完成内容和验证结果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未完成项、失败原因、下一步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课堂配对练习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A01 与 B01 交换接口样例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16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4795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4875" y="280035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第一轮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48000" y="280035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 说明要什么环境与基线，B 给出产物样例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47662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04875" y="362902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第二轮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48000" y="362902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说明要什么 MD 报告，A 给出发现样例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0530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04875" y="445770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第三轮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48000" y="445770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加入一个失败输入，讨论状态与错误码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513397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04875" y="528637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记录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48000" y="528637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把决定写入 ADR，把未决工作加入 Backlog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本次</a:t>
            </a:r>
            <a:r>
              <a:rPr lang="zh-CN"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作业</a:t>
            </a: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与下次任务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17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本堂</a:t>
            </a:r>
            <a:r>
              <a:rPr lang="zh-CN"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作业</a:t>
            </a:r>
            <a:endParaRPr lang="zh-CN"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配对组能解释同一份请求和结果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有接口样例、Backlog和设计记录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个人贡献与版本能够追溯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E3准备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A：MD/RD项目和C0/C1/C2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B：DRAFT项目和固定MD报告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备查页索引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以下页面</a:t>
            </a:r>
            <a:r>
              <a:rPr lang="zh-CN"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是一些</a:t>
            </a:r>
            <a:r>
              <a:rPr lang="zh-CN"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参考</a:t>
            </a:r>
            <a:endParaRPr lang="zh-CN"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18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任务与接口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公共字段和四类服务输入输出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四个创建端点与查询端点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产物、状态和错误码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验证与变化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参考样例校验方法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版本兼容性和基线检查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完整模板在E2材料目录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备查：统一任务模型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一份 Job 表达四类耗时任务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19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公共字段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schema_version、job_id、trace_id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job_type、status、execution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input、output、error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服务专有输入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DRAFT：仓库与构建要求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FULL_CHECK：仓库与环境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INCREMENTAL_CHECK：历史图与提交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REPAIR：错误报告与验证条件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备查：DRAFT 输入输出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自动构建需要明确的成功判据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20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输入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repository.url + commit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build.command + verify_command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max_iterations 与时间限制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输出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Dockerfile 与镜像引用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每轮日志、修改与选择理由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最终构建和验证结果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备查：BuildChecker 输入输出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基线属于固定提交和固定构建配置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21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输入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仓库与完整 commit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可运行镜像与 configuration_id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clean build 命令、项目根目录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输出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实际依赖图、声明依赖图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MD 与 RD 报告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进程、文件和声明位置证据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备查：EChecker 输入输出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历史图必须能追溯到 base commit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22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"job_type": "INCREMENTAL_CHECK"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"input": {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"base_commit": "C0 的完整 SHA",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"repository": { "commit": "C1 的完整 SHA" },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"baseline": {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"actual_graph_uri": "artifact://.../actual.json",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"commit": "C0 的完整 SHA",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"configuration_id": "cc-MODE0"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}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}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还需仓库地址、环境与构建命令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检查基线提交和配置是否匹配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输出当前发现及新增/消除的发现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返回更新后的图，供后续提交使用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备查：MDFixer 输入输出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修复只针对 Missing Dependency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23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输入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相同仓库与 commit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MD 报告 URI、Makefile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环境及构建/验证命令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输出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Git Patch 与声明风格说明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构建、测试、重检结果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失败时拒绝候选并记录原因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备查：产物传递与可追溯性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Job 保存元数据，大文件通过引用交接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24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{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"artifact_id": "graph-001",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"type": "ACTUAL_GRAPH",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"uri": "artifact://pair01/full01/actual.json",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"media_type": "application/json",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"producer_job_id": "job-full01"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}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约定解析器或实际下载接口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记录提交、配置与生产任务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sha256 在需要核验完整性时使用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E12 必须证明另一组能读取文件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备查：接口约定的最小检查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有效样例通过，无效输入被拒绝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25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4795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4875" y="280035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48000" y="280035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运行 validate.py，检查四类请求与响应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47662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04875" y="362902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48000" y="362902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将 job_type 改成 ABC，应被拒绝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0530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04875" y="445770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48000" y="445770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删除增量任务的 baseline，应被拒绝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513397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04875" y="528637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48000" y="528637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解释 MD 为什么不等于工具执行失败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备查：版本与变更记录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改字段之前先考虑消费者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26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可兼容变化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新增可选字段需要消费者允许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共享 Schema 同步更新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保留已有字段的含义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可能破坏兼容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字段删除、改名或改语义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状态枚举改变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严格 Schema 拒绝新增字段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备查：四个创建接口与一个查询接口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端点命名是参考，配对组可协商修改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27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参考端点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生成构建环境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POST /v1/dockerfile-jobs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全量检测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POST /v1/full-check-jobs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增量检测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POST /v1/incremental-check-jobs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修复缺失依赖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POST /v1/repair-jobs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查询任务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GET /v1/jobs/{job_id}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4303</Words>
  <Application>WPS 文字</Application>
  <PresentationFormat>Converted Presentation</PresentationFormat>
  <Paragraphs>627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汉仪旗黑</vt:lpstr>
      <vt:lpstr>Arial</vt:lpstr>
      <vt:lpstr>微软雅黑</vt:lpstr>
      <vt:lpstr>宋体</vt:lpstr>
      <vt:lpstr>Arial Unicode MS</vt:lpstr>
      <vt:lpstr>汉仪书宋二KW</vt:lpstr>
      <vt:lpstr>等线</vt:lpstr>
      <vt:lpstr>汉仪中等线KW</vt:lpstr>
      <vt:lpstr>Calibri</vt:lpstr>
      <vt:lpstr>Helvetica Neue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曾星伟</cp:lastModifiedBy>
  <cp:revision>30</cp:revision>
  <dcterms:created xsi:type="dcterms:W3CDTF">2026-09-20T01:43:39Z</dcterms:created>
  <dcterms:modified xsi:type="dcterms:W3CDTF">2026-09-20T01:43:39Z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ED08DC2644B429E81956A96A76A15C7F_42</vt:lpwstr>
  </property>
  <property fmtid="{D5CDD505-2E9C-101B-9397-08002B2CF9AE}" pid="3" name="KSOProductBuildVer">
    <vt:lpwstr>2052-6.13.1.8913</vt:lpwstr>
  </property>
</Properties>
</file>